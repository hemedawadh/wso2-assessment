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70f89f0-53ad-a88a-6e0a-2b93e5e03bdb}">
          <p14:sldIdLst>
            <p14:sldId id="256"/>
            <p14:sldId id="257"/>
            <p14:sldId id="258"/>
          </p14:sldIdLst>
        </p14:section>
        <p14:section name="Part 1 - Micro Integrator" id="{e6092aba-5db9-91c6-e826-30f07c6c03a6}">
          <p14:sldIdLst>
            <p14:sldId id="259"/>
            <p14:sldId id="260"/>
            <p14:sldId id="261"/>
            <p14:sldId id="262"/>
          </p14:sldIdLst>
        </p14:section>
        <p14:section name="Parts 2 and 3 - APIM and pipeline" id="{cc0efeb6-8157-8abe-a75a-9ae14f9ac600}">
          <p14:sldIdLst>
            <p14:sldId id="263"/>
            <p14:sldId id="264"/>
            <p14:sldId id="265"/>
          </p14:sldIdLst>
        </p14:section>
        <p14:section name="Bonus tasks" id="{91ce95c3-90b3-b532-006e-bb8208d53ff9}">
          <p14:sldIdLst>
            <p14:sldId id="266"/>
            <p14:sldId id="267"/>
          </p14:sldIdLst>
        </p14:section>
        <p14:section name="Close" id="{33a27364-60d5-5fd8-0403-a7cb34849634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Jamii Savings is a fictional bank. In this session: what I built for each part of the brief, the design decisions behind it, how it was verified, and the two bonus tasks. A live demo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check: parts 1, 2 and 3 are complete, and so are both optional bonuses. The numbers are from the automated suites, which run on every push in GitHub Actions and in the Jenkins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Separation of concerns. APIM: who may call, how often, and the developer experience. MI: everything about talking to backends. Keeping validation and error mapping in MI means the APIs behave the same with or without the gateway, and CI tests both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DB outage is reported as 503 ACCOUNT_DB_UNAVAILABLE, never confused with 404. The connection pool is configured to recover without a redeploy; verified by stopping MySQL mid-run. Logs only ever show the masked account number, ******0001.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body is passed through untouched; that is the point of a pass-through proxy. One bug testing caught: forwarding Accept-Encoding let the CDN gzip the body after we had stripped Content-Encoding. The proxy now asks for an uncompressed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500,000 over 12 months is an installment of 41,667, which exceeds the 33,000 that 40% of income minus debt allows: NOT_ELIGIBLE. The calculator rounds half-to-even; the local mock matches the live service's behaviour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codes are stable and specific to each API: 16 in total, catalogued in docs/api-design.md. Gateway errors (401, 403, 429) keep APIM's own format because MI is never reached.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this is an apictl project in git, imported by the pipeline, not clicked together in the Publisher. scripts/apim-demo-consumer.sh performs the Developer Portal onboarding through its REST API; CI uses it before testing through the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per-API logic lives in the Jenkinsfile: the scripts loop over the APIs, so a fourth API needs no pipeline change. The deploy scripts were tested by injecting a CAR with a missing environment variable and an API with an invalid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Postman suite runs twice: directly against MI and through the API Manager gateway with real OAuth2 and API-key credentials. Outage tests stop MySQL and each backend container mid-run. All tests are Go, Postman or shell; the repo needs no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detail testing uncovered: the aggregation timer only starts when the first branch answers, so if both backends fail the request hung. A third 'heartbeat' branch that answers immediately guarantees the deadline always fires.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Reusing the Part 1c API means events get exactly the same validation and SOAP-fault rules as REST callers. A message is acknowledged only after it is decided, parked, or handed back for retry, so a crash mid-message means redelivery, not loss. Six automated scenarios cover this, including recovery mid-retry.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limits: the MI tests check the artifacts statically rather than running Synapse unit tests, and prod is not wired up. None of these block the brief; they are the next steps for a production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 (docs/demo-script.md): account balance including the DB outage; customer proxy with header stripping and a timeout; loan eligibility including the SOAP fault; then the Bonus B event flow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Jamii Savings · WSO2 integration assignment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Jamii Savings integration platform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Three WSO2 Micro Integrator services, managed in API Manager and shipped by one Jenkins pipeline</a:t>
            </a:r>
            <a:endParaRPr lang="en-US" sz="2000" dirty="0"/>
          </a:p>
        </p:txBody>
      </p:sp>
      <p:sp>
        <p:nvSpPr>
          <p:cNvPr id="4" name="presenter"/>
          <p:cNvSpPr txBox="1"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Odhiambo Paul  ·  Integrations Officer practical assignment  ·  October 2026</a:t>
            </a:r>
            <a:endParaRPr lang="en-US" sz="1400" dirty="0"/>
          </a:p>
        </p:txBody>
      </p:sp>
      <p:sp>
        <p:nvSpPr>
          <p:cNvPr id="5" name="title badge 1 circle"/>
          <p:cNvSpPr/>
          <p:nvPr/>
        </p:nvSpPr>
        <p:spPr>
          <a:xfrm>
            <a:off x="548640" y="1005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itle badge 1 icon" descr="title bad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1178662"/>
            <a:ext cx="294437" cy="294437"/>
          </a:xfrm>
          <a:prstGeom prst="rect">
            <a:avLst/>
          </a:prstGeom>
        </p:spPr>
      </p:pic>
      <p:sp>
        <p:nvSpPr>
          <p:cNvPr id="7" name="title badge 2 circle"/>
          <p:cNvSpPr/>
          <p:nvPr/>
        </p:nvSpPr>
        <p:spPr>
          <a:xfrm>
            <a:off x="1417320" y="10058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title badge 2 icon" descr="title badg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142" y="1178662"/>
            <a:ext cx="294437" cy="294437"/>
          </a:xfrm>
          <a:prstGeom prst="rect">
            <a:avLst/>
          </a:prstGeom>
        </p:spPr>
      </p:pic>
      <p:sp>
        <p:nvSpPr>
          <p:cNvPr id="9" name="title badge 3 circle"/>
          <p:cNvSpPr/>
          <p:nvPr/>
        </p:nvSpPr>
        <p:spPr>
          <a:xfrm>
            <a:off x="2286000" y="10058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title badge 3 icon" descr="title badg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822" y="1178662"/>
            <a:ext cx="294437" cy="294437"/>
          </a:xfrm>
          <a:prstGeom prst="rect">
            <a:avLst/>
          </a:prstGeom>
        </p:spPr>
      </p:pic>
      <p:sp>
        <p:nvSpPr>
          <p:cNvPr id="11" name="title badge 4 circle"/>
          <p:cNvSpPr/>
          <p:nvPr/>
        </p:nvSpPr>
        <p:spPr>
          <a:xfrm>
            <a:off x="3154680" y="10058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title badge 4 icon" descr="title badg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502" y="1178662"/>
            <a:ext cx="294437" cy="2944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Every part of the brief, plus both bonuses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60020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822960" y="1920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+ 2</a:t>
            </a:r>
            <a:endParaRPr lang="en-US" sz="6000" dirty="0"/>
          </a:p>
        </p:txBody>
      </p:sp>
      <p:sp>
        <p:nvSpPr>
          <p:cNvPr id="5" name="stat label 1"/>
          <p:cNvSpPr txBox="1"/>
          <p:nvPr/>
        </p:nvSpPr>
        <p:spPr>
          <a:xfrm>
            <a:off x="822960" y="32918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integrations plus both bonus tasks (dashboard, events)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3355848" y="160020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3630168" y="1920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6000" dirty="0"/>
          </a:p>
        </p:txBody>
      </p:sp>
      <p:sp>
        <p:nvSpPr>
          <p:cNvPr id="8" name="stat label 2"/>
          <p:cNvSpPr txBox="1"/>
          <p:nvPr/>
        </p:nvSpPr>
        <p:spPr>
          <a:xfrm>
            <a:off x="3630168" y="32918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API test assertions pass, direct to MI and through the gateway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6163056" y="160020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6437376" y="1920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437376" y="32918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outage and event failure scenarios, automated</a:t>
            </a:r>
            <a:endParaRPr lang="en-US" sz="1600" dirty="0"/>
          </a:p>
        </p:txBody>
      </p:sp>
      <p:sp>
        <p:nvSpPr>
          <p:cNvPr id="12" name="stat card 4"/>
          <p:cNvSpPr/>
          <p:nvPr/>
        </p:nvSpPr>
        <p:spPr>
          <a:xfrm>
            <a:off x="8970264" y="160020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3" name="stat value 4"/>
          <p:cNvSpPr txBox="1"/>
          <p:nvPr/>
        </p:nvSpPr>
        <p:spPr>
          <a:xfrm>
            <a:off x="9244584" y="1920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4" name="stat label 4"/>
          <p:cNvSpPr txBox="1"/>
          <p:nvPr/>
        </p:nvSpPr>
        <p:spPr>
          <a:xfrm>
            <a:off x="9244584" y="32918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pipeline for all APIs, deploying all-or-nothing</a:t>
            </a:r>
            <a:endParaRPr lang="en-US" sz="1600" dirty="0"/>
          </a:p>
        </p:txBody>
      </p:sp>
      <p:sp>
        <p:nvSpPr>
          <p:cNvPr id="15" name="runs locally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Runs locally with Docker Compose: MySQL, two backend mocks, RabbitMQ, Micro Integrator 4.6 and API Manager 4.6.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API Manager governs access; MI does the integration</a:t>
            </a:r>
            <a:endParaRPr lang="en-US" sz="3200" dirty="0"/>
          </a:p>
        </p:txBody>
      </p:sp>
      <p:sp>
        <p:nvSpPr>
          <p:cNvPr id="3" name="consumers"/>
          <p:cNvSpPr/>
          <p:nvPr/>
        </p:nvSpPr>
        <p:spPr>
          <a:xfrm>
            <a:off x="548640" y="2743200"/>
            <a:ext cx="2011680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4" name="consumers text"/>
          <p:cNvSpPr txBox="1"/>
          <p:nvPr/>
        </p:nvSpPr>
        <p:spPr>
          <a:xfrm>
            <a:off x="731520" y="2880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Consumer apps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OAuth2 token or API key</a:t>
            </a:r>
            <a:endParaRPr lang="en-US" sz="1400" dirty="0"/>
          </a:p>
        </p:txBody>
      </p:sp>
      <p:sp>
        <p:nvSpPr>
          <p:cNvPr id="5" name="apim"/>
          <p:cNvSpPr/>
          <p:nvPr/>
        </p:nvSpPr>
        <p:spPr>
          <a:xfrm>
            <a:off x="3063240" y="2331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accent3"/>
          </a:solidFill>
          <a:ln/>
        </p:spPr>
      </p:sp>
      <p:sp>
        <p:nvSpPr>
          <p:cNvPr id="6" name="apim text"/>
          <p:cNvSpPr txBox="1"/>
          <p:nvPr/>
        </p:nvSpPr>
        <p:spPr>
          <a:xfrm>
            <a:off x="3246120" y="24688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API Manager 4.6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Auth, throttling tiers, custom policies, API Product, Developer Portal</a:t>
            </a:r>
            <a:endParaRPr lang="en-US" sz="1400" dirty="0"/>
          </a:p>
        </p:txBody>
      </p:sp>
      <p:sp>
        <p:nvSpPr>
          <p:cNvPr id="7" name="mi"/>
          <p:cNvSpPr/>
          <p:nvPr/>
        </p:nvSpPr>
        <p:spPr>
          <a:xfrm>
            <a:off x="6355080" y="233172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/>
        </p:spPr>
      </p:sp>
      <p:sp>
        <p:nvSpPr>
          <p:cNvPr id="8" name="mi text"/>
          <p:cNvSpPr txBox="1"/>
          <p:nvPr/>
        </p:nvSpPr>
        <p:spPr>
          <a:xfrm>
            <a:off x="6537960" y="24688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Micro Integrator 4.6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Validation, mediation, timeouts, error mapping, masking; 5 CARs</a:t>
            </a:r>
            <a:endParaRPr lang="en-US" sz="1400" dirty="0"/>
          </a:p>
        </p:txBody>
      </p:sp>
      <p:sp>
        <p:nvSpPr>
          <p:cNvPr id="9" name="backend 1"/>
          <p:cNvSpPr/>
          <p:nvPr/>
        </p:nvSpPr>
        <p:spPr>
          <a:xfrm>
            <a:off x="9646920" y="132588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backend 1 text"/>
          <p:cNvSpPr txBox="1"/>
          <p:nvPr/>
        </p:nvSpPr>
        <p:spPr>
          <a:xfrm>
            <a:off x="982980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MySQL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accounts data service</a:t>
            </a:r>
            <a:endParaRPr lang="en-US" sz="1400" dirty="0"/>
          </a:p>
        </p:txBody>
      </p:sp>
      <p:sp>
        <p:nvSpPr>
          <p:cNvPr id="11" name="backend 2"/>
          <p:cNvSpPr/>
          <p:nvPr/>
        </p:nvSpPr>
        <p:spPr>
          <a:xfrm>
            <a:off x="9646920" y="242316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2" name="backend 2 text"/>
          <p:cNvSpPr txBox="1"/>
          <p:nvPr/>
        </p:nvSpPr>
        <p:spPr>
          <a:xfrm>
            <a:off x="9829800" y="2560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JSONPlaceholder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customer REST API</a:t>
            </a:r>
            <a:endParaRPr lang="en-US" sz="1400" dirty="0"/>
          </a:p>
        </p:txBody>
      </p:sp>
      <p:sp>
        <p:nvSpPr>
          <p:cNvPr id="13" name="backend 3"/>
          <p:cNvSpPr/>
          <p:nvPr/>
        </p:nvSpPr>
        <p:spPr>
          <a:xfrm>
            <a:off x="9646920" y="352044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4" name="backend 3 text"/>
          <p:cNvSpPr txBox="1"/>
          <p:nvPr/>
        </p:nvSpPr>
        <p:spPr>
          <a:xfrm>
            <a:off x="982980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DNE Online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SOAP calculator</a:t>
            </a:r>
            <a:endParaRPr lang="en-US" sz="1400" dirty="0"/>
          </a:p>
        </p:txBody>
      </p:sp>
      <p:sp>
        <p:nvSpPr>
          <p:cNvPr id="15" name="backend 4"/>
          <p:cNvSpPr/>
          <p:nvPr/>
        </p:nvSpPr>
        <p:spPr>
          <a:xfrm>
            <a:off x="9646920" y="461772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6" name="backend 4 text"/>
          <p:cNvSpPr txBox="1"/>
          <p:nvPr/>
        </p:nvSpPr>
        <p:spPr>
          <a:xfrm>
            <a:off x="9829800" y="4754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RabbitMQ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loan-application events</a:t>
            </a:r>
            <a:endParaRPr lang="en-US" sz="1400" dirty="0"/>
          </a:p>
        </p:txBody>
      </p:sp>
      <p:sp>
        <p:nvSpPr>
          <p:cNvPr id="17" name="arrow consumer to apim"/>
          <p:cNvSpPr/>
          <p:nvPr/>
        </p:nvSpPr>
        <p:spPr>
          <a:xfrm>
            <a:off x="2560320" y="3337560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arrow apim to mi"/>
          <p:cNvSpPr/>
          <p:nvPr/>
        </p:nvSpPr>
        <p:spPr>
          <a:xfrm>
            <a:off x="5715000" y="3337560"/>
            <a:ext cx="6400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arrow mi to backend 1"/>
          <p:cNvSpPr/>
          <p:nvPr/>
        </p:nvSpPr>
        <p:spPr>
          <a:xfrm flipV="1">
            <a:off x="9006840" y="1783080"/>
            <a:ext cx="640080" cy="15544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arrow mi to backend 2"/>
          <p:cNvSpPr/>
          <p:nvPr/>
        </p:nvSpPr>
        <p:spPr>
          <a:xfrm flipV="1">
            <a:off x="9006840" y="2880360"/>
            <a:ext cx="640080" cy="45720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arrow mi to backend 3"/>
          <p:cNvSpPr/>
          <p:nvPr/>
        </p:nvSpPr>
        <p:spPr>
          <a:xfrm>
            <a:off x="9006840" y="3337560"/>
            <a:ext cx="640080" cy="64008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arrow mi to backend 4"/>
          <p:cNvSpPr/>
          <p:nvPr/>
        </p:nvSpPr>
        <p:spPr>
          <a:xfrm>
            <a:off x="9006840" y="3337560"/>
            <a:ext cx="640080" cy="17373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mocks note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Local contract-compatible mocks replace both public backends in CI, so failure cases are deterministic.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1a · Account balance: a safe query with a distinct DB failure</a:t>
            </a:r>
            <a:endParaRPr lang="en-US" sz="3200" dirty="0"/>
          </a:p>
        </p:txBody>
      </p:sp>
      <p:sp>
        <p:nvSpPr>
          <p:cNvPr id="3" name="1a step 1 circle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1a step 1 icon" descr="1a 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1648206"/>
            <a:ext cx="315468" cy="315468"/>
          </a:xfrm>
          <a:prstGeom prst="rect">
            <a:avLst/>
          </a:prstGeom>
        </p:spPr>
      </p:pic>
      <p:sp>
        <p:nvSpPr>
          <p:cNvPr id="5" name="1a step text 1"/>
          <p:cNvSpPr txBox="1"/>
          <p:nvPr/>
        </p:nvSpPr>
        <p:spPr>
          <a:xfrm>
            <a:off x="1463040" y="14447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Exactly 10 digits, or 400 before the database is touched</a:t>
            </a:r>
            <a:endParaRPr lang="en-US" sz="1400" dirty="0"/>
          </a:p>
        </p:txBody>
      </p:sp>
      <p:sp>
        <p:nvSpPr>
          <p:cNvPr id="6" name="1a step 2 circle"/>
          <p:cNvSpPr/>
          <p:nvPr/>
        </p:nvSpPr>
        <p:spPr>
          <a:xfrm>
            <a:off x="548640" y="2697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1a step 2 icon" descr="1a 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2882646"/>
            <a:ext cx="315468" cy="315468"/>
          </a:xfrm>
          <a:prstGeom prst="rect">
            <a:avLst/>
          </a:prstGeom>
        </p:spPr>
      </p:pic>
      <p:sp>
        <p:nvSpPr>
          <p:cNvPr id="8" name="1a step text 2"/>
          <p:cNvSpPr txBox="1"/>
          <p:nvPr/>
        </p:nvSpPr>
        <p:spPr>
          <a:xfrm>
            <a:off x="1463040" y="267919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 data service, bound parameter: WHERE account_number = ?</a:t>
            </a:r>
            <a:endParaRPr lang="en-US" sz="1400" dirty="0"/>
          </a:p>
        </p:txBody>
      </p:sp>
      <p:sp>
        <p:nvSpPr>
          <p:cNvPr id="9" name="1a step 3 circle"/>
          <p:cNvSpPr/>
          <p:nvPr/>
        </p:nvSpPr>
        <p:spPr>
          <a:xfrm>
            <a:off x="548640" y="3931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1a step 3 icon" descr="1a 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117086"/>
            <a:ext cx="315468" cy="315468"/>
          </a:xfrm>
          <a:prstGeom prst="rect">
            <a:avLst/>
          </a:prstGeom>
        </p:spPr>
      </p:pic>
      <p:sp>
        <p:nvSpPr>
          <p:cNvPr id="11" name="1a step text 3"/>
          <p:cNvSpPr txBox="1"/>
          <p:nvPr/>
        </p:nvSpPr>
        <p:spPr>
          <a:xfrm>
            <a:off x="1463040" y="391363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Respond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specified envelope, with requestId and ISO-8601 timestamp</a:t>
            </a:r>
            <a:endParaRPr lang="en-US" sz="1400" dirty="0"/>
          </a:p>
        </p:txBody>
      </p:sp>
      <p:sp>
        <p:nvSpPr>
          <p:cNvPr id="12" name="1a response panel"/>
          <p:cNvSpPr/>
          <p:nvPr/>
        </p:nvSpPr>
        <p:spPr>
          <a:xfrm>
            <a:off x="6492240" y="1417320"/>
            <a:ext cx="5120640" cy="2697480"/>
          </a:xfrm>
          <a:prstGeom prst="roundRect">
            <a:avLst>
              <a:gd name="adj" fmla="val 2712"/>
            </a:avLst>
          </a:prstGeom>
          <a:solidFill>
            <a:schemeClr val="tx2"/>
          </a:solidFill>
          <a:ln/>
        </p:spPr>
      </p:sp>
      <p:sp>
        <p:nvSpPr>
          <p:cNvPr id="13" name="1a response"/>
          <p:cNvSpPr txBox="1"/>
          <p:nvPr/>
        </p:nvSpPr>
        <p:spPr>
          <a:xfrm>
            <a:off x="6720840" y="160020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"accountNumber": "0100000001",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"ACTIVE",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"balance":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"amount": 152340.75,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"currency": "KES"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"requestId": "10d00c1e-...",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"2026-10-07T16:29:32Z"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1a status 1"/>
          <p:cNvSpPr/>
          <p:nvPr/>
        </p:nvSpPr>
        <p:spPr>
          <a:xfrm>
            <a:off x="6492240" y="4343400"/>
            <a:ext cx="64008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15" name="1a status 1 label"/>
          <p:cNvSpPr txBox="1"/>
          <p:nvPr/>
        </p:nvSpPr>
        <p:spPr>
          <a:xfrm>
            <a:off x="6492240" y="4343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200</a:t>
            </a:r>
            <a:endParaRPr lang="en-US" sz="1200" dirty="0"/>
          </a:p>
        </p:txBody>
      </p:sp>
      <p:sp>
        <p:nvSpPr>
          <p:cNvPr id="16" name="1a status 2"/>
          <p:cNvSpPr/>
          <p:nvPr/>
        </p:nvSpPr>
        <p:spPr>
          <a:xfrm>
            <a:off x="7269480" y="4343400"/>
            <a:ext cx="2926080" cy="384048"/>
          </a:xfrm>
          <a:prstGeom prst="roundRect">
            <a:avLst>
              <a:gd name="adj" fmla="val 47619"/>
            </a:avLst>
          </a:prstGeom>
          <a:solidFill>
            <a:schemeClr val="accent6"/>
          </a:solidFill>
          <a:ln/>
        </p:spPr>
      </p:sp>
      <p:sp>
        <p:nvSpPr>
          <p:cNvPr id="17" name="1a status 2 label"/>
          <p:cNvSpPr txBox="1"/>
          <p:nvPr/>
        </p:nvSpPr>
        <p:spPr>
          <a:xfrm>
            <a:off x="7269480" y="4343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400 INVALID_ACCOUNT_NUMBER</a:t>
            </a:r>
            <a:endParaRPr lang="en-US" sz="1200" dirty="0"/>
          </a:p>
        </p:txBody>
      </p:sp>
      <p:sp>
        <p:nvSpPr>
          <p:cNvPr id="18" name="1a status 3"/>
          <p:cNvSpPr/>
          <p:nvPr/>
        </p:nvSpPr>
        <p:spPr>
          <a:xfrm>
            <a:off x="6492240" y="4846320"/>
            <a:ext cx="242316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/>
        </p:spPr>
      </p:sp>
      <p:sp>
        <p:nvSpPr>
          <p:cNvPr id="19" name="1a status 3 label"/>
          <p:cNvSpPr txBox="1"/>
          <p:nvPr/>
        </p:nvSpPr>
        <p:spPr>
          <a:xfrm>
            <a:off x="6492240" y="48463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404 ACCOUNT_NOT_FOUND</a:t>
            </a:r>
            <a:endParaRPr lang="en-US" sz="1200" dirty="0"/>
          </a:p>
        </p:txBody>
      </p:sp>
      <p:sp>
        <p:nvSpPr>
          <p:cNvPr id="20" name="1a status 4"/>
          <p:cNvSpPr/>
          <p:nvPr/>
        </p:nvSpPr>
        <p:spPr>
          <a:xfrm>
            <a:off x="9052560" y="4846320"/>
            <a:ext cx="256032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/>
        </p:spPr>
      </p:sp>
      <p:sp>
        <p:nvSpPr>
          <p:cNvPr id="21" name="1a status 4 label"/>
          <p:cNvSpPr txBox="1"/>
          <p:nvPr/>
        </p:nvSpPr>
        <p:spPr>
          <a:xfrm>
            <a:off x="90525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503 ACCOUNT_DB_UNAVAILABLE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1b · Customer proxy: gateway value on top of pass-through</a:t>
            </a:r>
            <a:endParaRPr lang="en-US" sz="3200" dirty="0"/>
          </a:p>
        </p:txBody>
      </p:sp>
      <p:sp>
        <p:nvSpPr>
          <p:cNvPr id="3" name="1b card 1"/>
          <p:cNvSpPr/>
          <p:nvPr/>
        </p:nvSpPr>
        <p:spPr>
          <a:xfrm>
            <a:off x="54864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1b card 1 circle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1b card 1 icon" descr="1b card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026310"/>
            <a:ext cx="336499" cy="336499"/>
          </a:xfrm>
          <a:prstGeom prst="rect">
            <a:avLst/>
          </a:prstGeom>
        </p:spPr>
      </p:pic>
      <p:sp>
        <p:nvSpPr>
          <p:cNvPr id="6" name="1b card text 1"/>
          <p:cNvSpPr txBox="1"/>
          <p:nvPr/>
        </p:nvSpPr>
        <p:spPr>
          <a:xfrm>
            <a:off x="1783080" y="164592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Correlation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Injects X-Correlation-ID if the caller sent none, and propagates and echoes it</a:t>
            </a:r>
            <a:endParaRPr lang="en-US" sz="1400" dirty="0"/>
          </a:p>
        </p:txBody>
      </p:sp>
      <p:sp>
        <p:nvSpPr>
          <p:cNvPr id="7" name="1b card 2"/>
          <p:cNvSpPr/>
          <p:nvPr/>
        </p:nvSpPr>
        <p:spPr>
          <a:xfrm>
            <a:off x="617220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1b card 2 circle"/>
          <p:cNvSpPr/>
          <p:nvPr/>
        </p:nvSpPr>
        <p:spPr>
          <a:xfrm>
            <a:off x="6446520" y="18288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1b card 2 icon" descr="1b card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30" y="2026310"/>
            <a:ext cx="336499" cy="336499"/>
          </a:xfrm>
          <a:prstGeom prst="rect">
            <a:avLst/>
          </a:prstGeom>
        </p:spPr>
      </p:pic>
      <p:sp>
        <p:nvSpPr>
          <p:cNvPr id="10" name="1b card text 2"/>
          <p:cNvSpPr txBox="1"/>
          <p:nvPr/>
        </p:nvSpPr>
        <p:spPr>
          <a:xfrm>
            <a:off x="7406640" y="164592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Header hygiene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Strips Authorization, cookies and internal headers outbound, and every backend header inbound</a:t>
            </a:r>
            <a:endParaRPr lang="en-US" sz="1400" dirty="0"/>
          </a:p>
        </p:txBody>
      </p:sp>
      <p:sp>
        <p:nvSpPr>
          <p:cNvPr id="11" name="1b card 3"/>
          <p:cNvSpPr/>
          <p:nvPr/>
        </p:nvSpPr>
        <p:spPr>
          <a:xfrm>
            <a:off x="548640" y="324612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1b card 3 circle"/>
          <p:cNvSpPr/>
          <p:nvPr/>
        </p:nvSpPr>
        <p:spPr>
          <a:xfrm>
            <a:off x="822960" y="3703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1b card 3 icon" descr="1b card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3900830"/>
            <a:ext cx="336499" cy="336499"/>
          </a:xfrm>
          <a:prstGeom prst="rect">
            <a:avLst/>
          </a:prstGeom>
        </p:spPr>
      </p:pic>
      <p:sp>
        <p:nvSpPr>
          <p:cNvPr id="14" name="1b card text 3"/>
          <p:cNvSpPr txBox="1"/>
          <p:nvPr/>
        </p:nvSpPr>
        <p:spPr>
          <a:xfrm>
            <a:off x="1783080" y="35204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Resilience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s timeout, then fail fast with a circuit breaker while the backend is down</a:t>
            </a:r>
            <a:endParaRPr lang="en-US" sz="1400" dirty="0"/>
          </a:p>
        </p:txBody>
      </p:sp>
      <p:sp>
        <p:nvSpPr>
          <p:cNvPr id="15" name="1b card 4"/>
          <p:cNvSpPr/>
          <p:nvPr/>
        </p:nvSpPr>
        <p:spPr>
          <a:xfrm>
            <a:off x="6172200" y="3246120"/>
            <a:ext cx="53949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1b card 4 circle"/>
          <p:cNvSpPr/>
          <p:nvPr/>
        </p:nvSpPr>
        <p:spPr>
          <a:xfrm>
            <a:off x="6446520" y="37033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1b card 4 icon" descr="1b card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030" y="3900830"/>
            <a:ext cx="336499" cy="336499"/>
          </a:xfrm>
          <a:prstGeom prst="rect">
            <a:avLst/>
          </a:prstGeom>
        </p:spPr>
      </p:pic>
      <p:sp>
        <p:nvSpPr>
          <p:cNvPr id="18" name="1b card text 4"/>
          <p:cNvSpPr txBox="1"/>
          <p:nvPr/>
        </p:nvSpPr>
        <p:spPr>
          <a:xfrm>
            <a:off x="7406640" y="35204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Error mapping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502 bad upstream, 503 unavailable, 504 timeout, all in the common envelope</a:t>
            </a:r>
            <a:endParaRPr lang="en-US" sz="1400" dirty="0"/>
          </a:p>
        </p:txBody>
      </p:sp>
      <p:sp>
        <p:nvSpPr>
          <p:cNvPr id="19" name="1b backend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Backend: JSONPlaceholder /users/{id}. It is public, returns a realistic profile with PII and real 404s, and sends plenty of CDN headers to strip.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1c · Loan eligibility: JSON in, SOAP behind, JSON out</a:t>
            </a:r>
            <a:endParaRPr lang="en-US" sz="3200" dirty="0"/>
          </a:p>
        </p:txBody>
      </p:sp>
      <p:sp>
        <p:nvSpPr>
          <p:cNvPr id="3" name="1c step 1"/>
          <p:cNvSpPr/>
          <p:nvPr/>
        </p:nvSpPr>
        <p:spPr>
          <a:xfrm>
            <a:off x="548640" y="141732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1c step number 1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1c step text 1"/>
          <p:cNvSpPr txBox="1"/>
          <p:nvPr/>
        </p:nvSpPr>
        <p:spPr>
          <a:xfrm>
            <a:off x="777240" y="2148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JSON Schema, 415 and 400 rules</a:t>
            </a:r>
            <a:endParaRPr lang="en-US" sz="1400" dirty="0"/>
          </a:p>
        </p:txBody>
      </p:sp>
      <p:sp>
        <p:nvSpPr>
          <p:cNvPr id="6" name="1c arrow 1"/>
          <p:cNvSpPr/>
          <p:nvPr/>
        </p:nvSpPr>
        <p:spPr>
          <a:xfrm>
            <a:off x="3127248" y="2286000"/>
            <a:ext cx="21031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1c step 2"/>
          <p:cNvSpPr/>
          <p:nvPr/>
        </p:nvSpPr>
        <p:spPr>
          <a:xfrm>
            <a:off x="3355848" y="141732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1c step number 2"/>
          <p:cNvSpPr txBox="1"/>
          <p:nvPr/>
        </p:nvSpPr>
        <p:spPr>
          <a:xfrm>
            <a:off x="35844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1c step text 2"/>
          <p:cNvSpPr txBox="1"/>
          <p:nvPr/>
        </p:nvSpPr>
        <p:spPr>
          <a:xfrm>
            <a:off x="3584448" y="2148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SOAP Divide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amount ÷ tenure = installment</a:t>
            </a:r>
            <a:endParaRPr lang="en-US" sz="1400" dirty="0"/>
          </a:p>
        </p:txBody>
      </p:sp>
      <p:sp>
        <p:nvSpPr>
          <p:cNvPr id="10" name="1c arrow 2"/>
          <p:cNvSpPr/>
          <p:nvPr/>
        </p:nvSpPr>
        <p:spPr>
          <a:xfrm>
            <a:off x="5934456" y="2286000"/>
            <a:ext cx="21031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1c step 3"/>
          <p:cNvSpPr/>
          <p:nvPr/>
        </p:nvSpPr>
        <p:spPr>
          <a:xfrm>
            <a:off x="6163056" y="141732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1c step number 3"/>
          <p:cNvSpPr txBox="1"/>
          <p:nvPr/>
        </p:nvSpPr>
        <p:spPr>
          <a:xfrm>
            <a:off x="639165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1c step text 3"/>
          <p:cNvSpPr txBox="1"/>
          <p:nvPr/>
        </p:nvSpPr>
        <p:spPr>
          <a:xfrm>
            <a:off x="6391656" y="2148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Apply rule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40% of income minus existing debt</a:t>
            </a:r>
            <a:endParaRPr lang="en-US" sz="1400" dirty="0"/>
          </a:p>
        </p:txBody>
      </p:sp>
      <p:sp>
        <p:nvSpPr>
          <p:cNvPr id="14" name="1c arrow 3"/>
          <p:cNvSpPr/>
          <p:nvPr/>
        </p:nvSpPr>
        <p:spPr>
          <a:xfrm>
            <a:off x="8741664" y="2286000"/>
            <a:ext cx="21031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1c step 4"/>
          <p:cNvSpPr/>
          <p:nvPr/>
        </p:nvSpPr>
        <p:spPr>
          <a:xfrm>
            <a:off x="8970264" y="141732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1c step number 4"/>
          <p:cNvSpPr txBox="1"/>
          <p:nvPr/>
        </p:nvSpPr>
        <p:spPr>
          <a:xfrm>
            <a:off x="919886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1c step text 4"/>
          <p:cNvSpPr txBox="1"/>
          <p:nvPr/>
        </p:nvSpPr>
        <p:spPr>
          <a:xfrm>
            <a:off x="9198864" y="2148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JSON decision</a:t>
            </a:r>
            <a:endParaRPr lang="en-US" sz="1400" dirty="0"/>
          </a:p>
        </p:txBody>
      </p:sp>
      <p:sp>
        <p:nvSpPr>
          <p:cNvPr id="18" name="1c fault circle"/>
          <p:cNvSpPr/>
          <p:nvPr/>
        </p:nvSpPr>
        <p:spPr>
          <a:xfrm>
            <a:off x="548640" y="36118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1c fault icon" descr="1c fa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3809390"/>
            <a:ext cx="336499" cy="336499"/>
          </a:xfrm>
          <a:prstGeom prst="rect">
            <a:avLst/>
          </a:prstGeom>
        </p:spPr>
      </p:pic>
      <p:sp>
        <p:nvSpPr>
          <p:cNvPr id="20" name="1c fault text"/>
          <p:cNvSpPr txBox="1"/>
          <p:nvPr/>
        </p:nvSpPr>
        <p:spPr>
          <a:xfrm>
            <a:off x="1508760" y="35661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SOAP faults are mapped, never leaked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soap:Client → 422 LOAN_REQUEST_REJECTED     soap:Server → 502 LOAN_SERVICE_ERROR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real service returns a .NET stack trace in the fault. It is logged for operators (first line only) and never returned to the client.</a:t>
            </a:r>
            <a:endParaRPr lang="en-US" sz="1400" dirty="0"/>
          </a:p>
        </p:txBody>
      </p:sp>
      <p:sp>
        <p:nvSpPr>
          <p:cNvPr id="21" name="1c backend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Backend: DNE Online calculator. No public loan SOAP service exists, so the SOAP call does the arithmetic and the 40% rule (my assumption) stays visible in MI.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error contract across database, REST and SOAP</a:t>
            </a:r>
            <a:endParaRPr lang="en-US" sz="3200" dirty="0"/>
          </a:p>
        </p:txBody>
      </p:sp>
      <p:sp>
        <p:nvSpPr>
          <p:cNvPr id="3" name="error envelope panel"/>
          <p:cNvSpPr/>
          <p:nvPr/>
        </p:nvSpPr>
        <p:spPr>
          <a:xfrm>
            <a:off x="548640" y="1417320"/>
            <a:ext cx="5120640" cy="2880360"/>
          </a:xfrm>
          <a:prstGeom prst="roundRect">
            <a:avLst>
              <a:gd name="adj" fmla="val 2540"/>
            </a:avLst>
          </a:prstGeom>
          <a:solidFill>
            <a:schemeClr val="tx2"/>
          </a:solidFill>
          <a:ln/>
        </p:spPr>
      </p:sp>
      <p:sp>
        <p:nvSpPr>
          <p:cNvPr id="4" name="error envelope"/>
          <p:cNvSpPr txBox="1"/>
          <p:nvPr/>
        </p:nvSpPr>
        <p:spPr>
          <a:xfrm>
            <a:off x="777240" y="1600200"/>
            <a:ext cx="4663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"code": "ACCOUNT_DB_UNAVAILABLE",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"message": "The accounts database 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currently unavailable...",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503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"requestId": "2fe466e6-...",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"correlationId": "demo-corr-0001",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"2026-10-07T16:29:45Z"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error rule 1 circle"/>
          <p:cNvSpPr/>
          <p:nvPr/>
        </p:nvSpPr>
        <p:spPr>
          <a:xfrm>
            <a:off x="617220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error rule 1 icon" descr="error rul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366" y="1648206"/>
            <a:ext cx="315468" cy="315468"/>
          </a:xfrm>
          <a:prstGeom prst="rect">
            <a:avLst/>
          </a:prstGeom>
        </p:spPr>
      </p:pic>
      <p:sp>
        <p:nvSpPr>
          <p:cNvPr id="7" name="error rule text 1"/>
          <p:cNvSpPr txBox="1"/>
          <p:nvPr/>
        </p:nvSpPr>
        <p:spPr>
          <a:xfrm>
            <a:off x="7086600" y="14447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Built in one place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shared sequence builds every error response; a build-time test fails if a fault sequence builds its own</a:t>
            </a:r>
            <a:endParaRPr lang="en-US" sz="1400" dirty="0"/>
          </a:p>
        </p:txBody>
      </p:sp>
      <p:sp>
        <p:nvSpPr>
          <p:cNvPr id="8" name="error rule 2 circle"/>
          <p:cNvSpPr/>
          <p:nvPr/>
        </p:nvSpPr>
        <p:spPr>
          <a:xfrm>
            <a:off x="6172200" y="2697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error rule 2 icon" descr="error rul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366" y="2882646"/>
            <a:ext cx="315468" cy="315468"/>
          </a:xfrm>
          <a:prstGeom prst="rect">
            <a:avLst/>
          </a:prstGeom>
        </p:spPr>
      </p:pic>
      <p:sp>
        <p:nvSpPr>
          <p:cNvPr id="10" name="error rule text 2"/>
          <p:cNvSpPr txBox="1"/>
          <p:nvPr/>
        </p:nvSpPr>
        <p:spPr>
          <a:xfrm>
            <a:off x="7086600" y="267919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400, not 500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Malformed input is rejected with 400 or 415 before any backend call</a:t>
            </a:r>
            <a:endParaRPr lang="en-US" sz="1400" dirty="0"/>
          </a:p>
        </p:txBody>
      </p:sp>
      <p:sp>
        <p:nvSpPr>
          <p:cNvPr id="11" name="error rule 3 circle"/>
          <p:cNvSpPr/>
          <p:nvPr/>
        </p:nvSpPr>
        <p:spPr>
          <a:xfrm>
            <a:off x="6172200" y="3931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error rule 3 icon" descr="error rul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66" y="4117086"/>
            <a:ext cx="315468" cy="315468"/>
          </a:xfrm>
          <a:prstGeom prst="rect">
            <a:avLst/>
          </a:prstGeom>
        </p:spPr>
      </p:pic>
      <p:sp>
        <p:nvSpPr>
          <p:cNvPr id="13" name="error rule text 3"/>
          <p:cNvSpPr txBox="1"/>
          <p:nvPr/>
        </p:nvSpPr>
        <p:spPr>
          <a:xfrm>
            <a:off x="7086600" y="391363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Masked logs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in, backend call, response out, with masked IDs and never payloads</a:t>
            </a:r>
            <a:endParaRPr lang="en-US" sz="1400" dirty="0"/>
          </a:p>
        </p:txBody>
      </p:sp>
      <p:sp>
        <p:nvSpPr>
          <p:cNvPr id="14" name="error catalogue note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16 stable error codes in total, each tied to an HTTP status and catalogued in docs/api-design.md.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 2 · Managed and discoverable in API Manager</a:t>
            </a:r>
            <a:endParaRPr lang="en-US" sz="3200" dirty="0"/>
          </a:p>
        </p:txBody>
      </p:sp>
      <p:graphicFrame>
        <p:nvGraphicFramePr>
          <p:cNvPr id="9" name="api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50876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API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Security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Tiers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API limit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Accounts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OAuth2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Gold, Silver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50K/min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OAuth2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Gold, Silver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50K/min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Loan eligibility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API key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Bronze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10K/min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Core Banking product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OAuth2 or key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Gold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ier reason"/>
          <p:cNvSpPr txBox="1"/>
          <p:nvPr/>
        </p:nvSpPr>
        <p:spPr>
          <a:xfrm>
            <a:off x="548640" y="3931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Loan eligibility gets the lower tier because every call costs a round trip to an external, rate-limited SOAP service.</a:t>
            </a:r>
            <a:endParaRPr lang="en-US" sz="1400" dirty="0"/>
          </a:p>
        </p:txBody>
      </p:sp>
      <p:sp>
        <p:nvSpPr>
          <p:cNvPr id="5" name="apim feature 1 circle"/>
          <p:cNvSpPr/>
          <p:nvPr/>
        </p:nvSpPr>
        <p:spPr>
          <a:xfrm>
            <a:off x="7589520" y="1417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apim feature 1 icon" descr="apim fea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342" y="1590142"/>
            <a:ext cx="294437" cy="294437"/>
          </a:xfrm>
          <a:prstGeom prst="rect">
            <a:avLst/>
          </a:prstGeom>
        </p:spPr>
      </p:pic>
      <p:sp>
        <p:nvSpPr>
          <p:cNvPr id="7" name="apim feature text 1"/>
          <p:cNvSpPr txBox="1"/>
          <p:nvPr/>
        </p:nvSpPr>
        <p:spPr>
          <a:xfrm>
            <a:off x="8412480" y="1399032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OpenAPI 3 definitions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Hand-written, with every error status</a:t>
            </a:r>
            <a:endParaRPr lang="en-US" sz="1400" dirty="0"/>
          </a:p>
        </p:txBody>
      </p:sp>
      <p:sp>
        <p:nvSpPr>
          <p:cNvPr id="8" name="apim feature 2 circle"/>
          <p:cNvSpPr/>
          <p:nvPr/>
        </p:nvSpPr>
        <p:spPr>
          <a:xfrm>
            <a:off x="7589520" y="26060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apim feature 2 icon" descr="apim fea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342" y="2778862"/>
            <a:ext cx="294437" cy="294437"/>
          </a:xfrm>
          <a:prstGeom prst="rect">
            <a:avLst/>
          </a:prstGeom>
        </p:spPr>
      </p:pic>
      <p:sp>
        <p:nvSpPr>
          <p:cNvPr id="10" name="apim feature text 2"/>
          <p:cNvSpPr txBox="1"/>
          <p:nvPr/>
        </p:nvSpPr>
        <p:spPr>
          <a:xfrm>
            <a:off x="8412480" y="2587752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 gateway policies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Correlation and consumer headers; security headers</a:t>
            </a:r>
            <a:endParaRPr lang="en-US" sz="1400" dirty="0"/>
          </a:p>
        </p:txBody>
      </p:sp>
      <p:sp>
        <p:nvSpPr>
          <p:cNvPr id="11" name="apim feature 3 circle"/>
          <p:cNvSpPr/>
          <p:nvPr/>
        </p:nvSpPr>
        <p:spPr>
          <a:xfrm>
            <a:off x="7589520" y="37947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apim feature 3 icon" descr="apim featur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342" y="3967582"/>
            <a:ext cx="294437" cy="294437"/>
          </a:xfrm>
          <a:prstGeom prst="rect">
            <a:avLst/>
          </a:prstGeom>
        </p:spPr>
      </p:pic>
      <p:sp>
        <p:nvSpPr>
          <p:cNvPr id="13" name="apim feature text 3"/>
          <p:cNvSpPr txBox="1"/>
          <p:nvPr/>
        </p:nvSpPr>
        <p:spPr>
          <a:xfrm>
            <a:off x="8412480" y="3776472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Developer Portal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app → subscribe → get keys → call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Part 3 · One pipeline, all-or-nothing deployments</a:t>
            </a:r>
            <a:endParaRPr lang="en-US" sz="3200" dirty="0"/>
          </a:p>
        </p:txBody>
      </p:sp>
      <p:sp>
        <p:nvSpPr>
          <p:cNvPr id="3" name="stage 1"/>
          <p:cNvSpPr/>
          <p:nvPr/>
        </p:nvSpPr>
        <p:spPr>
          <a:xfrm>
            <a:off x="548640" y="1463040"/>
            <a:ext cx="1216152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4" name="stage label 1"/>
          <p:cNvSpPr txBox="1"/>
          <p:nvPr/>
        </p:nvSpPr>
        <p:spPr>
          <a:xfrm>
            <a:off x="548640" y="1463040"/>
            <a:ext cx="1216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Build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package</a:t>
            </a:r>
            <a:endParaRPr lang="en-US" sz="1200" dirty="0"/>
          </a:p>
        </p:txBody>
      </p:sp>
      <p:sp>
        <p:nvSpPr>
          <p:cNvPr id="5" name="stage arrow 1"/>
          <p:cNvSpPr/>
          <p:nvPr/>
        </p:nvSpPr>
        <p:spPr>
          <a:xfrm>
            <a:off x="1783080" y="1920240"/>
            <a:ext cx="16459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stage 2"/>
          <p:cNvSpPr/>
          <p:nvPr/>
        </p:nvSpPr>
        <p:spPr>
          <a:xfrm>
            <a:off x="1965960" y="1463040"/>
            <a:ext cx="1216152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7" name="stage label 2"/>
          <p:cNvSpPr txBox="1"/>
          <p:nvPr/>
        </p:nvSpPr>
        <p:spPr>
          <a:xfrm>
            <a:off x="1965960" y="1463040"/>
            <a:ext cx="1216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Unit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tests</a:t>
            </a:r>
            <a:endParaRPr lang="en-US" sz="1200" dirty="0"/>
          </a:p>
        </p:txBody>
      </p:sp>
      <p:sp>
        <p:nvSpPr>
          <p:cNvPr id="8" name="stage arrow 2"/>
          <p:cNvSpPr/>
          <p:nvPr/>
        </p:nvSpPr>
        <p:spPr>
          <a:xfrm>
            <a:off x="3200400" y="1920240"/>
            <a:ext cx="16459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tage 3"/>
          <p:cNvSpPr/>
          <p:nvPr/>
        </p:nvSpPr>
        <p:spPr>
          <a:xfrm>
            <a:off x="3383280" y="1463040"/>
            <a:ext cx="1216152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0" name="stage label 3"/>
          <p:cNvSpPr txBox="1"/>
          <p:nvPr/>
        </p:nvSpPr>
        <p:spPr>
          <a:xfrm>
            <a:off x="3383280" y="1463040"/>
            <a:ext cx="1216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Archive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artifacts</a:t>
            </a:r>
            <a:endParaRPr lang="en-US" sz="1200" dirty="0"/>
          </a:p>
        </p:txBody>
      </p:sp>
      <p:sp>
        <p:nvSpPr>
          <p:cNvPr id="11" name="stage arrow 3"/>
          <p:cNvSpPr/>
          <p:nvPr/>
        </p:nvSpPr>
        <p:spPr>
          <a:xfrm>
            <a:off x="4617720" y="1920240"/>
            <a:ext cx="16459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stage 4"/>
          <p:cNvSpPr/>
          <p:nvPr/>
        </p:nvSpPr>
        <p:spPr>
          <a:xfrm>
            <a:off x="4800600" y="1463040"/>
            <a:ext cx="1216152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3" name="stage label 4"/>
          <p:cNvSpPr txBox="1"/>
          <p:nvPr/>
        </p:nvSpPr>
        <p:spPr>
          <a:xfrm>
            <a:off x="4800600" y="1463040"/>
            <a:ext cx="1216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14" name="stage arrow 4"/>
          <p:cNvSpPr/>
          <p:nvPr/>
        </p:nvSpPr>
        <p:spPr>
          <a:xfrm>
            <a:off x="6035040" y="1920240"/>
            <a:ext cx="16459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tage 5"/>
          <p:cNvSpPr/>
          <p:nvPr/>
        </p:nvSpPr>
        <p:spPr>
          <a:xfrm>
            <a:off x="6217920" y="1463040"/>
            <a:ext cx="1216152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6" name="stage label 5"/>
          <p:cNvSpPr txBox="1"/>
          <p:nvPr/>
        </p:nvSpPr>
        <p:spPr>
          <a:xfrm>
            <a:off x="6217920" y="1463040"/>
            <a:ext cx="1216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</a:t>
            </a:r>
            <a:endParaRPr lang="en-US" sz="1200" dirty="0"/>
          </a:p>
        </p:txBody>
      </p:sp>
      <p:sp>
        <p:nvSpPr>
          <p:cNvPr id="17" name="stage arrow 5"/>
          <p:cNvSpPr/>
          <p:nvPr/>
        </p:nvSpPr>
        <p:spPr>
          <a:xfrm>
            <a:off x="7452360" y="1920240"/>
            <a:ext cx="16459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tage 6"/>
          <p:cNvSpPr/>
          <p:nvPr/>
        </p:nvSpPr>
        <p:spPr>
          <a:xfrm>
            <a:off x="7635240" y="1463040"/>
            <a:ext cx="1216152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9" name="stage label 6"/>
          <p:cNvSpPr txBox="1"/>
          <p:nvPr/>
        </p:nvSpPr>
        <p:spPr>
          <a:xfrm>
            <a:off x="7635240" y="1463040"/>
            <a:ext cx="1216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Integration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tests</a:t>
            </a:r>
            <a:endParaRPr lang="en-US" sz="1200" dirty="0"/>
          </a:p>
        </p:txBody>
      </p:sp>
      <p:sp>
        <p:nvSpPr>
          <p:cNvPr id="20" name="stage arrow 6"/>
          <p:cNvSpPr/>
          <p:nvPr/>
        </p:nvSpPr>
        <p:spPr>
          <a:xfrm>
            <a:off x="8869680" y="1920240"/>
            <a:ext cx="16459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stage 7"/>
          <p:cNvSpPr/>
          <p:nvPr/>
        </p:nvSpPr>
        <p:spPr>
          <a:xfrm>
            <a:off x="9052560" y="1463040"/>
            <a:ext cx="1216152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22" name="stage label 7"/>
          <p:cNvSpPr txBox="1"/>
          <p:nvPr/>
        </p:nvSpPr>
        <p:spPr>
          <a:xfrm>
            <a:off x="9052560" y="1463040"/>
            <a:ext cx="1216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approval</a:t>
            </a:r>
            <a:endParaRPr lang="en-US" sz="1200" dirty="0"/>
          </a:p>
        </p:txBody>
      </p:sp>
      <p:sp>
        <p:nvSpPr>
          <p:cNvPr id="23" name="stage arrow 7"/>
          <p:cNvSpPr/>
          <p:nvPr/>
        </p:nvSpPr>
        <p:spPr>
          <a:xfrm>
            <a:off x="10287000" y="1920240"/>
            <a:ext cx="16459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stage 8"/>
          <p:cNvSpPr/>
          <p:nvPr/>
        </p:nvSpPr>
        <p:spPr>
          <a:xfrm>
            <a:off x="10469880" y="1463040"/>
            <a:ext cx="1216152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25" name="stage label 8"/>
          <p:cNvSpPr txBox="1"/>
          <p:nvPr/>
        </p:nvSpPr>
        <p:spPr>
          <a:xfrm>
            <a:off x="10469880" y="1463040"/>
            <a:ext cx="1216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</a:t>
            </a:r>
            <a:endParaRPr lang="en-US" sz="1200" dirty="0"/>
          </a:p>
        </p:txBody>
      </p:sp>
      <p:sp>
        <p:nvSpPr>
          <p:cNvPr id="26" name="pipeline card 1"/>
          <p:cNvSpPr/>
          <p:nvPr/>
        </p:nvSpPr>
        <p:spPr>
          <a:xfrm>
            <a:off x="548640" y="2880360"/>
            <a:ext cx="35204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7" name="pipeline card 1 circle"/>
          <p:cNvSpPr/>
          <p:nvPr/>
        </p:nvSpPr>
        <p:spPr>
          <a:xfrm>
            <a:off x="822960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pipeline card 1 icon" descr="pipeline card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3281782"/>
            <a:ext cx="294437" cy="294437"/>
          </a:xfrm>
          <a:prstGeom prst="rect">
            <a:avLst/>
          </a:prstGeom>
        </p:spPr>
      </p:pic>
      <p:sp>
        <p:nvSpPr>
          <p:cNvPr id="29" name="pipeline card text 1"/>
          <p:cNvSpPr txBox="1"/>
          <p:nvPr/>
        </p:nvSpPr>
        <p:spPr>
          <a:xfrm>
            <a:off x="822960" y="3886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CARs swapped in atomically and verified via the management API. Any faulty app restores the previous set.</a:t>
            </a:r>
            <a:endParaRPr lang="en-US" sz="1400" dirty="0"/>
          </a:p>
        </p:txBody>
      </p:sp>
      <p:sp>
        <p:nvSpPr>
          <p:cNvPr id="30" name="pipeline card 2"/>
          <p:cNvSpPr/>
          <p:nvPr/>
        </p:nvSpPr>
        <p:spPr>
          <a:xfrm>
            <a:off x="4297680" y="2880360"/>
            <a:ext cx="35204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31" name="pipeline card 2 circle"/>
          <p:cNvSpPr/>
          <p:nvPr/>
        </p:nvSpPr>
        <p:spPr>
          <a:xfrm>
            <a:off x="4572000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pipeline card 2 icon" descr="pipeline card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822" y="3281782"/>
            <a:ext cx="294437" cy="294437"/>
          </a:xfrm>
          <a:prstGeom prst="rect">
            <a:avLst/>
          </a:prstGeom>
        </p:spPr>
      </p:pic>
      <p:sp>
        <p:nvSpPr>
          <p:cNvPr id="33" name="pipeline card text 2"/>
          <p:cNvSpPr txBox="1"/>
          <p:nvPr/>
        </p:nvSpPr>
        <p:spPr>
          <a:xfrm>
            <a:off x="4572000" y="3886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API Manager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Existing APIs exported first. If one import fails, the others are restored and the product is not touched.</a:t>
            </a:r>
            <a:endParaRPr lang="en-US" sz="1400" dirty="0"/>
          </a:p>
        </p:txBody>
      </p:sp>
      <p:sp>
        <p:nvSpPr>
          <p:cNvPr id="34" name="pipeline card 3"/>
          <p:cNvSpPr/>
          <p:nvPr/>
        </p:nvSpPr>
        <p:spPr>
          <a:xfrm>
            <a:off x="8046720" y="2880360"/>
            <a:ext cx="35204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35" name="pipeline card 3 circle"/>
          <p:cNvSpPr/>
          <p:nvPr/>
        </p:nvSpPr>
        <p:spPr>
          <a:xfrm>
            <a:off x="8321040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pipeline card 3 icon" descr="pipeline card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862" y="3281782"/>
            <a:ext cx="294437" cy="294437"/>
          </a:xfrm>
          <a:prstGeom prst="rect">
            <a:avLst/>
          </a:prstGeom>
        </p:spPr>
      </p:pic>
      <p:sp>
        <p:nvSpPr>
          <p:cNvPr id="37" name="pipeline card text 3"/>
          <p:cNvSpPr txBox="1"/>
          <p:nvPr/>
        </p:nvSpPr>
        <p:spPr>
          <a:xfrm>
            <a:off x="8321040" y="3886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Across both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APIM fails after MI succeeded, MI is put back too. Tested with deliberately broken artifacts.</a:t>
            </a:r>
            <a:endParaRPr lang="en-US" sz="1400" dirty="0"/>
          </a:p>
        </p:txBody>
      </p:sp>
      <p:sp>
        <p:nvSpPr>
          <p:cNvPr id="38" name="prod note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Prod promotes the same archived artifacts after a manual approval (a dry run here). GitHub Actions mirrors every stage.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Verified end to end, on every push</a:t>
            </a:r>
            <a:endParaRPr lang="en-US" sz="3200" dirty="0"/>
          </a:p>
        </p:txBody>
      </p:sp>
      <p:sp>
        <p:nvSpPr>
          <p:cNvPr id="30" name="tests chart title"/>
          <p:cNvSpPr txBox="1"/>
          <p:nvPr/>
        </p:nvSpPr>
        <p:spPr>
          <a:xfrm>
            <a:off x="548640" y="132588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0" dirty="0">
                <a:solidFill>
                  <a:schemeClr val="tx2"/>
                </a:solidFill>
                <a:latin typeface="+mj-lt"/>
              </a:rPr>
              <a:t>Automated checks by suite</a:t>
            </a:r>
          </a:p>
        </p:txBody>
      </p:sp>
      <p:sp>
        <p:nvSpPr>
          <p:cNvPr id="31" name="tests chart label 1"/>
          <p:cNvSpPr txBox="1"/>
          <p:nvPr/>
        </p:nvSpPr>
        <p:spPr>
          <a:xfrm>
            <a:off x="548640" y="201168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b="0" dirty="0">
                <a:solidFill>
                  <a:schemeClr val="tx1"/>
                </a:solidFill>
              </a:rPr>
              <a:t>Postman assertions (per target)</a:t>
            </a:r>
          </a:p>
        </p:txBody>
      </p:sp>
      <p:sp>
        <p:nvSpPr>
          <p:cNvPr id="32" name="tests chart bar 1"/>
          <p:cNvSpPr/>
          <p:nvPr/>
        </p:nvSpPr>
        <p:spPr>
          <a:xfrm>
            <a:off x="3200400" y="2011680"/>
            <a:ext cx="3017520" cy="384048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3" name="tests chart value 1"/>
          <p:cNvSpPr txBox="1"/>
          <p:nvPr/>
        </p:nvSpPr>
        <p:spPr>
          <a:xfrm>
            <a:off x="6309360" y="2011680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104</a:t>
            </a:r>
          </a:p>
        </p:txBody>
      </p:sp>
      <p:sp>
        <p:nvSpPr>
          <p:cNvPr id="34" name="tests chart label 2"/>
          <p:cNvSpPr txBox="1"/>
          <p:nvPr/>
        </p:nvSpPr>
        <p:spPr>
          <a:xfrm>
            <a:off x="548640" y="2670048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b="0" dirty="0">
                <a:solidFill>
                  <a:schemeClr val="tx1"/>
                </a:solidFill>
              </a:rPr>
              <a:t>MI artifact tests</a:t>
            </a:r>
          </a:p>
        </p:txBody>
      </p:sp>
      <p:sp>
        <p:nvSpPr>
          <p:cNvPr id="35" name="tests chart bar 2"/>
          <p:cNvSpPr/>
          <p:nvPr/>
        </p:nvSpPr>
        <p:spPr>
          <a:xfrm>
            <a:off x="3200400" y="2670048"/>
            <a:ext cx="1160584" cy="384048"/>
          </a:xfrm>
          <a:prstGeom prst="roundRect">
            <a:avLst>
              <a:gd name="adj" fmla="val 18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6" name="tests chart value 2"/>
          <p:cNvSpPr txBox="1"/>
          <p:nvPr/>
        </p:nvSpPr>
        <p:spPr>
          <a:xfrm>
            <a:off x="4452424" y="2670048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40</a:t>
            </a:r>
          </a:p>
        </p:txBody>
      </p:sp>
      <p:sp>
        <p:nvSpPr>
          <p:cNvPr id="37" name="tests chart label 3"/>
          <p:cNvSpPr txBox="1"/>
          <p:nvPr/>
        </p:nvSpPr>
        <p:spPr>
          <a:xfrm>
            <a:off x="548640" y="3328416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b="0" dirty="0">
                <a:solidFill>
                  <a:schemeClr val="tx1"/>
                </a:solidFill>
              </a:rPr>
              <a:t>Tool and mock unit tests</a:t>
            </a:r>
          </a:p>
        </p:txBody>
      </p:sp>
      <p:sp>
        <p:nvSpPr>
          <p:cNvPr id="38" name="tests chart bar 3"/>
          <p:cNvSpPr/>
          <p:nvPr/>
        </p:nvSpPr>
        <p:spPr>
          <a:xfrm>
            <a:off x="3200400" y="3328416"/>
            <a:ext cx="696350" cy="384048"/>
          </a:xfrm>
          <a:prstGeom prst="roundRect">
            <a:avLst>
              <a:gd name="adj" fmla="val 18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39" name="tests chart value 3"/>
          <p:cNvSpPr txBox="1"/>
          <p:nvPr/>
        </p:nvSpPr>
        <p:spPr>
          <a:xfrm>
            <a:off x="3988190" y="3328416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24</a:t>
            </a:r>
          </a:p>
        </p:txBody>
      </p:sp>
      <p:sp>
        <p:nvSpPr>
          <p:cNvPr id="40" name="tests chart label 4"/>
          <p:cNvSpPr txBox="1"/>
          <p:nvPr/>
        </p:nvSpPr>
        <p:spPr>
          <a:xfrm>
            <a:off x="548640" y="398678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b="0" dirty="0">
                <a:solidFill>
                  <a:schemeClr val="tx1"/>
                </a:solidFill>
              </a:rPr>
              <a:t>Event scenarios</a:t>
            </a:r>
          </a:p>
        </p:txBody>
      </p:sp>
      <p:sp>
        <p:nvSpPr>
          <p:cNvPr id="41" name="tests chart bar 4"/>
          <p:cNvSpPr/>
          <p:nvPr/>
        </p:nvSpPr>
        <p:spPr>
          <a:xfrm>
            <a:off x="3200400" y="3986784"/>
            <a:ext cx="174087" cy="384048"/>
          </a:xfrm>
          <a:prstGeom prst="roundRect">
            <a:avLst>
              <a:gd name="adj" fmla="val 18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42" name="tests chart value 4"/>
          <p:cNvSpPr txBox="1"/>
          <p:nvPr/>
        </p:nvSpPr>
        <p:spPr>
          <a:xfrm>
            <a:off x="3465927" y="3986784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43" name="tests chart label 5"/>
          <p:cNvSpPr txBox="1"/>
          <p:nvPr/>
        </p:nvSpPr>
        <p:spPr>
          <a:xfrm>
            <a:off x="548640" y="464515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b="0" dirty="0">
                <a:solidFill>
                  <a:schemeClr val="tx1"/>
                </a:solidFill>
              </a:rPr>
              <a:t>Outage tests</a:t>
            </a:r>
          </a:p>
        </p:txBody>
      </p:sp>
      <p:sp>
        <p:nvSpPr>
          <p:cNvPr id="44" name="tests chart bar 5"/>
          <p:cNvSpPr/>
          <p:nvPr/>
        </p:nvSpPr>
        <p:spPr>
          <a:xfrm>
            <a:off x="3200400" y="4645152"/>
            <a:ext cx="116058" cy="384048"/>
          </a:xfrm>
          <a:prstGeom prst="roundRect">
            <a:avLst>
              <a:gd name="adj" fmla="val 18000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45" name="tests chart value 5"/>
          <p:cNvSpPr txBox="1"/>
          <p:nvPr/>
        </p:nvSpPr>
        <p:spPr>
          <a:xfrm>
            <a:off x="3407898" y="4645152"/>
            <a:ext cx="5486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4" name="bugs heading"/>
          <p:cNvSpPr txBox="1"/>
          <p:nvPr/>
        </p:nvSpPr>
        <p:spPr>
          <a:xfrm>
            <a:off x="722376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Testing found real bugs before reviewers did</a:t>
            </a:r>
            <a:endParaRPr lang="en-US" sz="1800" dirty="0"/>
          </a:p>
        </p:txBody>
      </p:sp>
      <p:sp>
        <p:nvSpPr>
          <p:cNvPr id="5" name="bugs list"/>
          <p:cNvSpPr txBox="1"/>
          <p:nvPr/>
        </p:nvSpPr>
        <p:spPr>
          <a:xfrm>
            <a:off x="7223760" y="196596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Gzipped bodies reached clients unlabelled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Same-version redeploys verified against the old CAR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Gateway called before new APIs were live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Event 4xx answers retried as if transient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Retry limit off by one (4 retries, not 3)</a:t>
            </a:r>
            <a:endParaRPr lang="en-US" sz="1400" dirty="0"/>
          </a:p>
        </p:txBody>
      </p:sp>
      <p:sp>
        <p:nvSpPr>
          <p:cNvPr id="6" name="bugs note"/>
          <p:cNvSpPr txBox="1"/>
          <p:nvPr/>
        </p:nvSpPr>
        <p:spPr>
          <a:xfrm>
            <a:off x="7223760" y="3977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Each was fixed and is covered by a test. Full clean-room runs rebuild everything from scratch.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Bonus A · The dashboard returns partial data, not an error</a:t>
            </a:r>
            <a:endParaRPr lang="en-US" sz="3200" dirty="0"/>
          </a:p>
        </p:txBody>
      </p:sp>
      <p:sp>
        <p:nvSpPr>
          <p:cNvPr id="3" name="dashboard intro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GET /customers/{id}/dashboard calls the customer service and the accounts database in parallel (Scatter-Gather) under one 7-second deadline.</a:t>
            </a:r>
            <a:endParaRPr lang="en-US" sz="1600" dirty="0"/>
          </a:p>
        </p:txBody>
      </p:sp>
      <p:sp>
        <p:nvSpPr>
          <p:cNvPr id="4" name="outcome dot 1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outcome case 1"/>
          <p:cNvSpPr txBox="1"/>
          <p:nvPr/>
        </p:nvSpPr>
        <p:spPr>
          <a:xfrm>
            <a:off x="114300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Both sections OK</a:t>
            </a:r>
            <a:endParaRPr lang="en-US" sz="1600" dirty="0"/>
          </a:p>
        </p:txBody>
      </p:sp>
      <p:sp>
        <p:nvSpPr>
          <p:cNvPr id="6" name="outcome result 1"/>
          <p:cNvSpPr txBox="1"/>
          <p:nvPr/>
        </p:nvSpPr>
        <p:spPr>
          <a:xfrm>
            <a:off x="420624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200, partial: false</a:t>
            </a:r>
            <a:endParaRPr lang="en-US" sz="1400" dirty="0"/>
          </a:p>
        </p:txBody>
      </p:sp>
      <p:sp>
        <p:nvSpPr>
          <p:cNvPr id="7" name="outcome dot 2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outcome case 2"/>
          <p:cNvSpPr txBox="1"/>
          <p:nvPr/>
        </p:nvSpPr>
        <p:spPr>
          <a:xfrm>
            <a:off x="1143000" y="3108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fails or is late</a:t>
            </a:r>
            <a:endParaRPr lang="en-US" sz="1600" dirty="0"/>
          </a:p>
        </p:txBody>
      </p:sp>
      <p:sp>
        <p:nvSpPr>
          <p:cNvPr id="9" name="outcome result 2"/>
          <p:cNvSpPr txBox="1"/>
          <p:nvPr/>
        </p:nvSpPr>
        <p:spPr>
          <a:xfrm>
            <a:off x="420624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200, partial: true, failed section null, reason in errors[]</a:t>
            </a:r>
            <a:endParaRPr lang="en-US" sz="1400" dirty="0"/>
          </a:p>
        </p:txBody>
      </p:sp>
      <p:sp>
        <p:nvSpPr>
          <p:cNvPr id="10" name="outcome dot 3"/>
          <p:cNvSpPr/>
          <p:nvPr/>
        </p:nvSpPr>
        <p:spPr>
          <a:xfrm>
            <a:off x="548640" y="395020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outcome case 3"/>
          <p:cNvSpPr txBox="1"/>
          <p:nvPr/>
        </p:nvSpPr>
        <p:spPr>
          <a:xfrm>
            <a:off x="1143000" y="3886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does not exist</a:t>
            </a:r>
            <a:endParaRPr lang="en-US" sz="1600" dirty="0"/>
          </a:p>
        </p:txBody>
      </p:sp>
      <p:sp>
        <p:nvSpPr>
          <p:cNvPr id="12" name="outcome result 3"/>
          <p:cNvSpPr txBox="1"/>
          <p:nvPr/>
        </p:nvSpPr>
        <p:spPr>
          <a:xfrm>
            <a:off x="420624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404 CUSTOMER_NOT_FOUND</a:t>
            </a:r>
            <a:endParaRPr lang="en-US" sz="1400" dirty="0"/>
          </a:p>
        </p:txBody>
      </p:sp>
      <p:sp>
        <p:nvSpPr>
          <p:cNvPr id="13" name="outcome dot 4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utcome case 4"/>
          <p:cNvSpPr txBox="1"/>
          <p:nvPr/>
        </p:nvSpPr>
        <p:spPr>
          <a:xfrm>
            <a:off x="1143000" y="4663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Both fail</a:t>
            </a:r>
            <a:endParaRPr lang="en-US" sz="1600" dirty="0"/>
          </a:p>
        </p:txBody>
      </p:sp>
      <p:sp>
        <p:nvSpPr>
          <p:cNvPr id="15" name="outcome result 4"/>
          <p:cNvSpPr txBox="1"/>
          <p:nvPr/>
        </p:nvSpPr>
        <p:spPr>
          <a:xfrm>
            <a:off x="4206240" y="4663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503 DASHBOARD_UNAVAILABLE</a:t>
            </a:r>
            <a:endParaRPr lang="en-US" sz="1400" dirty="0"/>
          </a:p>
        </p:txBody>
      </p:sp>
      <p:sp>
        <p:nvSpPr>
          <p:cNvPr id="16" name="dashboard why"/>
          <p:cNvSpPr/>
          <p:nvPr/>
        </p:nvSpPr>
        <p:spPr>
          <a:xfrm>
            <a:off x="8229600" y="2286000"/>
            <a:ext cx="341071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7" name="dashboard why text"/>
          <p:cNvSpPr txBox="1"/>
          <p:nvPr/>
        </p:nvSpPr>
        <p:spPr>
          <a:xfrm>
            <a:off x="8458200" y="251460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partial?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read-only view stays useful: balances can still be shown while the profile service is down. Clients check partial and treat null as unavailable, not empty.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Bonus B · Events: retry what is transient, park what is not</a:t>
            </a:r>
            <a:endParaRPr lang="en-US" sz="3200" dirty="0"/>
          </a:p>
        </p:txBody>
      </p:sp>
      <p:sp>
        <p:nvSpPr>
          <p:cNvPr id="3" name="queue in"/>
          <p:cNvSpPr/>
          <p:nvPr/>
        </p:nvSpPr>
        <p:spPr>
          <a:xfrm>
            <a:off x="548640" y="146304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queue in label"/>
          <p:cNvSpPr txBox="1"/>
          <p:nvPr/>
        </p:nvSpPr>
        <p:spPr>
          <a:xfrm>
            <a:off x="54864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loan.applications</a:t>
            </a:r>
            <a:endParaRPr lang="en-US" sz="1400" dirty="0"/>
          </a:p>
        </p:txBody>
      </p:sp>
      <p:sp>
        <p:nvSpPr>
          <p:cNvPr id="5" name="consumer"/>
          <p:cNvSpPr/>
          <p:nvPr/>
        </p:nvSpPr>
        <p:spPr>
          <a:xfrm>
            <a:off x="3429000" y="14630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6" name="consumer label"/>
          <p:cNvSpPr txBox="1"/>
          <p:nvPr/>
        </p:nvSpPr>
        <p:spPr>
          <a:xfrm>
            <a:off x="342900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 consumer</a:t>
            </a:r>
            <a:endParaRPr lang="en-US" sz="1400" dirty="0"/>
          </a:p>
        </p:txBody>
      </p:sp>
      <p:sp>
        <p:nvSpPr>
          <p:cNvPr id="7" name="api call"/>
          <p:cNvSpPr/>
          <p:nvPr/>
        </p:nvSpPr>
        <p:spPr>
          <a:xfrm>
            <a:off x="5943600" y="1463040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8" name="api call label"/>
          <p:cNvSpPr txBox="1"/>
          <p:nvPr/>
        </p:nvSpPr>
        <p:spPr>
          <a:xfrm>
            <a:off x="594360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 /loans/eligibility</a:t>
            </a:r>
            <a:endParaRPr lang="en-US" sz="1400" dirty="0"/>
          </a:p>
        </p:txBody>
      </p:sp>
      <p:sp>
        <p:nvSpPr>
          <p:cNvPr id="9" name="queue out"/>
          <p:cNvSpPr/>
          <p:nvPr/>
        </p:nvSpPr>
        <p:spPr>
          <a:xfrm>
            <a:off x="9144000" y="1463040"/>
            <a:ext cx="249631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0" name="queue out label"/>
          <p:cNvSpPr txBox="1"/>
          <p:nvPr/>
        </p:nvSpPr>
        <p:spPr>
          <a:xfrm>
            <a:off x="9144000" y="1463040"/>
            <a:ext cx="2496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loan.decisions</a:t>
            </a:r>
            <a:endParaRPr lang="en-US" sz="1400" dirty="0"/>
          </a:p>
        </p:txBody>
      </p:sp>
      <p:sp>
        <p:nvSpPr>
          <p:cNvPr id="11" name="events arrow 1"/>
          <p:cNvSpPr/>
          <p:nvPr/>
        </p:nvSpPr>
        <p:spPr>
          <a:xfrm>
            <a:off x="2926080" y="1828800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events arrow 2"/>
          <p:cNvSpPr/>
          <p:nvPr/>
        </p:nvSpPr>
        <p:spPr>
          <a:xfrm>
            <a:off x="5440680" y="1828800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events arrow 3"/>
          <p:cNvSpPr/>
          <p:nvPr/>
        </p:nvSpPr>
        <p:spPr>
          <a:xfrm>
            <a:off x="8595360" y="1828800"/>
            <a:ext cx="5486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events lane 1"/>
          <p:cNvSpPr/>
          <p:nvPr/>
        </p:nvSpPr>
        <p:spPr>
          <a:xfrm>
            <a:off x="548640" y="2743200"/>
            <a:ext cx="53949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5" name="events lane 1 circle"/>
          <p:cNvSpPr/>
          <p:nvPr/>
        </p:nvSpPr>
        <p:spPr>
          <a:xfrm>
            <a:off x="822960" y="30175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events lane 1 icon" descr="events lan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3202686"/>
            <a:ext cx="315468" cy="315468"/>
          </a:xfrm>
          <a:prstGeom prst="rect">
            <a:avLst/>
          </a:prstGeom>
        </p:spPr>
      </p:pic>
      <p:sp>
        <p:nvSpPr>
          <p:cNvPr id="17" name="events lane text 1"/>
          <p:cNvSpPr txBox="1"/>
          <p:nvPr/>
        </p:nvSpPr>
        <p:spPr>
          <a:xfrm>
            <a:off x="1737360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Permanent → DLQ immediately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JSON, schema violation, or an API 4xx. Parked with the original body and x-error-code, x-error-reason and x-correlation-id headers.</a:t>
            </a:r>
            <a:endParaRPr lang="en-US" sz="1400" dirty="0"/>
          </a:p>
        </p:txBody>
      </p:sp>
      <p:sp>
        <p:nvSpPr>
          <p:cNvPr id="18" name="events lane 2"/>
          <p:cNvSpPr/>
          <p:nvPr/>
        </p:nvSpPr>
        <p:spPr>
          <a:xfrm>
            <a:off x="6172200" y="2743200"/>
            <a:ext cx="53949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9" name="events lane 2 circle"/>
          <p:cNvSpPr/>
          <p:nvPr/>
        </p:nvSpPr>
        <p:spPr>
          <a:xfrm>
            <a:off x="6446520" y="30175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events lane 2 icon" descr="events lan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686" y="3202686"/>
            <a:ext cx="315468" cy="315468"/>
          </a:xfrm>
          <a:prstGeom prst="rect">
            <a:avLst/>
          </a:prstGeom>
        </p:spPr>
      </p:pic>
      <p:sp>
        <p:nvSpPr>
          <p:cNvPr id="21" name="events lane text 2"/>
          <p:cNvSpPr txBox="1"/>
          <p:nvPr/>
        </p:nvSpPr>
        <p:spPr>
          <a:xfrm>
            <a:off x="7360920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Transient → retry, then DLQ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5xx, timeout or backend down. Rejected and retried by the broker every 5 s; after 3 retries MI parks it, with x-death history.</a:t>
            </a:r>
            <a:endParaRPr lang="en-US" sz="1400" dirty="0"/>
          </a:p>
        </p:txBody>
      </p:sp>
      <p:sp>
        <p:nvSpPr>
          <p:cNvPr id="22" name="events contrast"/>
          <p:cNvSpPr txBox="1"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Unlike the request/response APIs, nobody waits: the caller never sees errors, MI and the broker own the retries, and an outage is absorbed rather than failed fast.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Trade-offs made, and what I would do next</a:t>
            </a:r>
            <a:endParaRPr lang="en-US" sz="3200" dirty="0"/>
          </a:p>
        </p:txBody>
      </p:sp>
      <p:sp>
        <p:nvSpPr>
          <p:cNvPr id="3" name="close column 1"/>
          <p:cNvSpPr/>
          <p:nvPr/>
        </p:nvSpPr>
        <p:spPr>
          <a:xfrm>
            <a:off x="548640" y="1371600"/>
            <a:ext cx="5394960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/>
        </p:spPr>
      </p:sp>
      <p:sp>
        <p:nvSpPr>
          <p:cNvPr id="4" name="close column 1 circle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close column 1 icon" descr="close colum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773022"/>
            <a:ext cx="294437" cy="294437"/>
          </a:xfrm>
          <a:prstGeom prst="rect">
            <a:avLst/>
          </a:prstGeom>
        </p:spPr>
      </p:pic>
      <p:sp>
        <p:nvSpPr>
          <p:cNvPr id="6" name="close heading 1"/>
          <p:cNvSpPr txBox="1"/>
          <p:nvPr/>
        </p:nvSpPr>
        <p:spPr>
          <a:xfrm>
            <a:off x="164592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Trade-offs</a:t>
            </a:r>
            <a:endParaRPr lang="en-US" sz="2000" dirty="0"/>
          </a:p>
        </p:txBody>
      </p:sp>
      <p:sp>
        <p:nvSpPr>
          <p:cNvPr id="7" name="close list 1"/>
          <p:cNvSpPr txBox="1"/>
          <p:nvPr/>
        </p:nvSpPr>
        <p:spPr>
          <a:xfrm>
            <a:off x="868680" y="246888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Own CAR packager instead of the WSO2 Maven plugins: simpler layout, but custom tooling (output verified identical)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Public test backends plus local mocks: realistic demos and deterministic CI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Production modelled as an approval-gated dry run, not a live target</a:t>
            </a:r>
            <a:endParaRPr lang="en-US" sz="1600" dirty="0"/>
          </a:p>
        </p:txBody>
      </p:sp>
      <p:sp>
        <p:nvSpPr>
          <p:cNvPr id="8" name="close column 2"/>
          <p:cNvSpPr/>
          <p:nvPr/>
        </p:nvSpPr>
        <p:spPr>
          <a:xfrm>
            <a:off x="6172200" y="1371600"/>
            <a:ext cx="5394960" cy="3794760"/>
          </a:xfrm>
          <a:prstGeom prst="roundRect">
            <a:avLst>
              <a:gd name="adj" fmla="val 1928"/>
            </a:avLst>
          </a:prstGeom>
          <a:solidFill>
            <a:schemeClr val="bg2"/>
          </a:solidFill>
          <a:ln/>
        </p:spPr>
      </p:sp>
      <p:sp>
        <p:nvSpPr>
          <p:cNvPr id="9" name="close column 2 circle"/>
          <p:cNvSpPr/>
          <p:nvPr/>
        </p:nvSpPr>
        <p:spPr>
          <a:xfrm>
            <a:off x="644652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lose column 2 icon" descr="close colum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342" y="1773022"/>
            <a:ext cx="294437" cy="294437"/>
          </a:xfrm>
          <a:prstGeom prst="rect">
            <a:avLst/>
          </a:prstGeom>
        </p:spPr>
      </p:pic>
      <p:sp>
        <p:nvSpPr>
          <p:cNvPr id="11" name="close heading 2"/>
          <p:cNvSpPr txBox="1"/>
          <p:nvPr/>
        </p:nvSpPr>
        <p:spPr>
          <a:xfrm>
            <a:off x="726948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With more time</a:t>
            </a:r>
            <a:endParaRPr lang="en-US" sz="2000" dirty="0"/>
          </a:p>
        </p:txBody>
      </p:sp>
      <p:sp>
        <p:nvSpPr>
          <p:cNvPr id="12" name="close list 2"/>
          <p:cNvSpPr txBox="1"/>
          <p:nvPr/>
        </p:nvSpPr>
        <p:spPr>
          <a:xfrm>
            <a:off x="6492240" y="246888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Synapse unit tests and OpenAPI contract tests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Secrets in a vault; mutual TLS from gateway to MI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Central JSON logs, Prometheus metrics and alerts on 5xx and DLQ depth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Kubernetes with Helm for prod; AsyncAPI for the events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Live demo and questions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github.com/paulodhiambo/ws02-assessment</a:t>
            </a:r>
            <a:endParaRPr lang="en-US" sz="2000" dirty="0"/>
          </a:p>
        </p:txBody>
      </p:sp>
      <p:sp>
        <p:nvSpPr>
          <p:cNvPr id="4" name="demo circle"/>
          <p:cNvSpPr/>
          <p:nvPr/>
        </p:nvSpPr>
        <p:spPr>
          <a:xfrm>
            <a:off x="548640" y="1097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demo icon" descr="de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294790"/>
            <a:ext cx="336499" cy="336499"/>
          </a:xfrm>
          <a:prstGeom prst="rect">
            <a:avLst/>
          </a:prstGeom>
        </p:spPr>
      </p:pic>
      <p:sp>
        <p:nvSpPr>
          <p:cNvPr id="6" name="run commands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scripts/build.sh  →  docker compose --profile apim up -d --wait  →  scripts/deploy-mi.sh dev  →  scripts/deploy-apim.sh dev  →  scripts/test.sh --all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mii Savings">
  <a:themeElements>
    <a:clrScheme name="Jamii Savings">
      <a:dk1>
        <a:srgbClr val="1B2A24"/>
      </a:dk1>
      <a:lt1>
        <a:srgbClr val="FFFFFF"/>
      </a:lt1>
      <a:dk2>
        <a:srgbClr val="0E3B2E"/>
      </a:dk2>
      <a:lt2>
        <a:srgbClr val="EEF3F0"/>
      </a:lt2>
      <a:accent1>
        <a:srgbClr val="1F7A5C"/>
      </a:accent1>
      <a:accent2>
        <a:srgbClr val="E3A72F"/>
      </a:accent2>
      <a:accent3>
        <a:srgbClr val="2E6F95"/>
      </a:accent3>
      <a:accent4>
        <a:srgbClr val="C2543C"/>
      </a:accent4>
      <a:accent5>
        <a:srgbClr val="7FA99B"/>
      </a:accent5>
      <a:accent6>
        <a:srgbClr val="5B6B66"/>
      </a:accent6>
      <a:hlink>
        <a:srgbClr val="1F7A5C"/>
      </a:hlink>
      <a:folHlink>
        <a:srgbClr val="5B6B66"/>
      </a:folHlink>
    </a:clrScheme>
    <a:fontScheme name="Jamii Saving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Jamii Savings - WSO2 integration assignment</dc:title>
  <dc:subject>WSO2 Micro Integrator, API Manager and Jenkins</dc:subject>
  <dc:creator>Odhiambo Paul</dc:creator>
  <cp:lastModifiedBy>Odhiambo Paul</cp:lastModifiedBy>
  <cp:revision>1</cp:revision>
  <dcterms:created xsi:type="dcterms:W3CDTF">2026-10-08T16:27:56Z</dcterms:created>
  <dcterms:modified xsi:type="dcterms:W3CDTF">2026-10-08T16:27:56Z</dcterms:modified>
</cp:coreProperties>
</file>